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146847851" r:id="rId3"/>
    <p:sldId id="2146847848" r:id="rId4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646"/>
    <a:srgbClr val="182DF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95066" autoAdjust="0"/>
  </p:normalViewPr>
  <p:slideViewPr>
    <p:cSldViewPr snapToGrid="0">
      <p:cViewPr varScale="1">
        <p:scale>
          <a:sx n="78" d="100"/>
          <a:sy n="78" d="100"/>
        </p:scale>
        <p:origin x="11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F214F-0C9B-45AE-AB8A-7E49B51B72A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0346A-3ED5-4440-BB02-1C478ADB7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98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9D07F-7679-4BA1-95B3-4F96AC5DCF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6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DB4C-559B-6FAF-101F-F3635BCA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6FE870-3F19-9D4F-96B9-8360246E6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377B91-DD32-53F0-1C28-B8E5AFF66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3E6A68-410E-BC3D-5873-6AB1CAC97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0346A-3ED5-4440-BB02-1C478ADB75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2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5360" y="452669"/>
            <a:ext cx="7968885" cy="1033115"/>
          </a:xfrm>
        </p:spPr>
        <p:txBody>
          <a:bodyPr>
            <a:noAutofit/>
          </a:bodyPr>
          <a:lstStyle>
            <a:lvl1pPr algn="l">
              <a:defRPr sz="64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35360" y="1485784"/>
            <a:ext cx="7968885" cy="1752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" t="1" b="1516"/>
          <a:stretch/>
        </p:blipFill>
        <p:spPr bwMode="auto">
          <a:xfrm>
            <a:off x="8280739" y="-17483"/>
            <a:ext cx="3911260" cy="687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5286243"/>
            <a:ext cx="3534753" cy="157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334434" y="4389107"/>
            <a:ext cx="3841751" cy="96096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31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">
    <p:bg>
      <p:bgPr>
        <a:solidFill>
          <a:srgbClr val="E7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5360" y="452669"/>
            <a:ext cx="7968885" cy="1033115"/>
          </a:xfrm>
        </p:spPr>
        <p:txBody>
          <a:bodyPr>
            <a:noAutofit/>
          </a:bodyPr>
          <a:lstStyle>
            <a:lvl1pPr algn="l">
              <a:defRPr sz="64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35360" y="1485784"/>
            <a:ext cx="7968885" cy="1752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" t="1" b="1516"/>
          <a:stretch/>
        </p:blipFill>
        <p:spPr bwMode="auto">
          <a:xfrm>
            <a:off x="8280739" y="-17483"/>
            <a:ext cx="3911260" cy="687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334434" y="4389107"/>
            <a:ext cx="3841751" cy="96096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pic>
        <p:nvPicPr>
          <p:cNvPr id="10" name="Picture 4" descr="D:\other\PPT\4\logo.jpg">
            <a:extLst>
              <a:ext uri="{FF2B5EF4-FFF2-40B4-BE49-F238E27FC236}">
                <a16:creationId xmlns:a16="http://schemas.microsoft.com/office/drawing/2014/main" id="{75331671-BF85-45A3-8E08-D2BB230D48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281349"/>
            <a:ext cx="3534752" cy="157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84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D:\other\PPT\Patterns JE_RGB-Corporate.png">
            <a:extLst>
              <a:ext uri="{FF2B5EF4-FFF2-40B4-BE49-F238E27FC236}">
                <a16:creationId xmlns:a16="http://schemas.microsoft.com/office/drawing/2014/main" id="{D71DCEF3-DB3F-4A31-9AC7-11FCAA0CA6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" t="1" b="1516"/>
          <a:stretch/>
        </p:blipFill>
        <p:spPr bwMode="auto">
          <a:xfrm>
            <a:off x="8647484" y="-17483"/>
            <a:ext cx="3544515" cy="623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563863"/>
            <a:ext cx="4896544" cy="479723"/>
          </a:xfrm>
        </p:spPr>
        <p:txBody>
          <a:bodyPr anchor="ctr">
            <a:noAutofit/>
          </a:bodyPr>
          <a:lstStyle>
            <a:lvl1pPr marL="0" marR="0" indent="0" algn="ctr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2667" b="1">
                <a:latin typeface="+mj-lt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Chapter</a:t>
            </a:r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3695732" y="3044627"/>
            <a:ext cx="4896544" cy="479723"/>
          </a:xfrm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n-lt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3695733" y="4005064"/>
            <a:ext cx="4896544" cy="479723"/>
          </a:xfrm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n-lt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3695734" y="2660597"/>
            <a:ext cx="748954" cy="324665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667"/>
              </a:lnSpc>
              <a:spcBef>
                <a:spcPts val="0"/>
              </a:spcBef>
              <a:buNone/>
              <a:defRPr sz="1867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Title</a:t>
            </a:r>
            <a:endParaRPr lang="zh-CN" altLang="en-US"/>
          </a:p>
        </p:txBody>
      </p:sp>
      <p:sp>
        <p:nvSpPr>
          <p:cNvPr id="10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695734" y="3620703"/>
            <a:ext cx="748954" cy="324665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667"/>
              </a:lnSpc>
              <a:spcBef>
                <a:spcPts val="0"/>
              </a:spcBef>
              <a:buNone/>
              <a:defRPr sz="1867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Title</a:t>
            </a:r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21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recto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1241092" y="4196424"/>
            <a:ext cx="2302800" cy="288693"/>
          </a:xfrm>
          <a:prstGeom prst="roundRect">
            <a:avLst>
              <a:gd name="adj" fmla="val 50000"/>
            </a:avLst>
          </a:prstGeom>
          <a:noFill/>
        </p:spPr>
        <p:txBody>
          <a:bodyPr>
            <a:noAutofit/>
          </a:bodyPr>
          <a:lstStyle>
            <a:lvl1pPr marL="0" marR="0" indent="0" algn="ctr" defTabSz="121917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j-lt"/>
                <a:cs typeface="Arial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da-DK" altLang="zh-CN"/>
              <a:t>Lorem ipsum dolor</a:t>
            </a:r>
            <a:endParaRPr lang="zh-CN" alt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25" name="文本占位符 10"/>
          <p:cNvSpPr>
            <a:spLocks noGrp="1"/>
          </p:cNvSpPr>
          <p:nvPr>
            <p:ph type="body" sz="quarter" idx="24" hasCustomPrompt="1"/>
          </p:nvPr>
        </p:nvSpPr>
        <p:spPr>
          <a:xfrm>
            <a:off x="4944599" y="4196423"/>
            <a:ext cx="2302800" cy="288693"/>
          </a:xfrm>
          <a:prstGeom prst="roundRect">
            <a:avLst>
              <a:gd name="adj" fmla="val 50000"/>
            </a:avLst>
          </a:prstGeom>
          <a:noFill/>
        </p:spPr>
        <p:txBody>
          <a:bodyPr>
            <a:noAutofit/>
          </a:bodyPr>
          <a:lstStyle>
            <a:lvl1pPr marL="0" marR="0" indent="0" algn="ctr" defTabSz="121917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j-lt"/>
                <a:cs typeface="Arial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da-DK" altLang="zh-CN"/>
              <a:t>Lorem ipsum dolor</a:t>
            </a:r>
            <a:endParaRPr lang="zh-CN" altLang="en-US"/>
          </a:p>
        </p:txBody>
      </p:sp>
      <p:sp>
        <p:nvSpPr>
          <p:cNvPr id="30" name="文本占位符 10"/>
          <p:cNvSpPr>
            <a:spLocks noGrp="1"/>
          </p:cNvSpPr>
          <p:nvPr>
            <p:ph type="body" sz="quarter" idx="27" hasCustomPrompt="1"/>
          </p:nvPr>
        </p:nvSpPr>
        <p:spPr>
          <a:xfrm>
            <a:off x="8627788" y="4196423"/>
            <a:ext cx="2302800" cy="288693"/>
          </a:xfrm>
          <a:prstGeom prst="roundRect">
            <a:avLst>
              <a:gd name="adj" fmla="val 50000"/>
            </a:avLst>
          </a:prstGeom>
          <a:noFill/>
        </p:spPr>
        <p:txBody>
          <a:bodyPr>
            <a:noAutofit/>
          </a:bodyPr>
          <a:lstStyle>
            <a:lvl1pPr marL="0" marR="0" indent="0" algn="ctr" defTabSz="121917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j-lt"/>
                <a:cs typeface="Arial" pitchFamily="34" charset="0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da-DK" altLang="zh-CN"/>
              <a:t>Lorem ipsum dolor</a:t>
            </a:r>
            <a:endParaRPr lang="zh-CN" altLang="en-US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1103446" y="3543706"/>
            <a:ext cx="2578093" cy="49299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667" b="1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29" hasCustomPrompt="1"/>
          </p:nvPr>
        </p:nvSpPr>
        <p:spPr>
          <a:xfrm>
            <a:off x="4806952" y="3543706"/>
            <a:ext cx="2578093" cy="49299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667" b="1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30" hasCustomPrompt="1"/>
          </p:nvPr>
        </p:nvSpPr>
        <p:spPr>
          <a:xfrm>
            <a:off x="8490142" y="3543706"/>
            <a:ext cx="2578093" cy="492997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667" b="1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4847862" y="1124745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667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967541" y="2948947"/>
            <a:ext cx="760432" cy="4389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32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5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5711958" y="2948947"/>
            <a:ext cx="764257" cy="418735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32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37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9398972" y="2914255"/>
            <a:ext cx="760432" cy="4389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3200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05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60957" y="644691"/>
            <a:ext cx="3518819" cy="480053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>
            <a:no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lang="zh-CN" altLang="en-US" dirty="0"/>
            </a:lvl1pPr>
          </a:lstStyle>
          <a:p>
            <a:pPr lvl="0"/>
            <a:r>
              <a:rPr lang="en-US" altLang="zh-CN"/>
              <a:t>Chapter Title</a:t>
            </a:r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549310" y="1935163"/>
            <a:ext cx="11089909" cy="3456384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22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D:\other\PPT\Patterns JE_RGB-Corporate.png">
            <a:extLst>
              <a:ext uri="{FF2B5EF4-FFF2-40B4-BE49-F238E27FC236}">
                <a16:creationId xmlns:a16="http://schemas.microsoft.com/office/drawing/2014/main" id="{AE73CCAA-C9C3-44FF-B527-D60C5CD11E1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" t="1" b="1516"/>
          <a:stretch/>
        </p:blipFill>
        <p:spPr bwMode="auto">
          <a:xfrm>
            <a:off x="8647484" y="-17483"/>
            <a:ext cx="3544515" cy="623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2875040" y="2372883"/>
            <a:ext cx="4565109" cy="50573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667">
                <a:latin typeface="+mj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874677" y="2878621"/>
            <a:ext cx="6005633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j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391477" y="2341662"/>
            <a:ext cx="1152128" cy="530815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4267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6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43339" y="1700809"/>
            <a:ext cx="5280157" cy="41275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523962" marR="0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/>
              <a:t>Bulletpoint_1</a:t>
            </a:r>
            <a:endParaRPr lang="zh-CN" altLang="en-US"/>
          </a:p>
          <a:p>
            <a:pPr lvl="1"/>
            <a:r>
              <a:rPr lang="en-US" altLang="zh-CN"/>
              <a:t>Subbulletpoint_1_1</a:t>
            </a:r>
            <a:endParaRPr lang="zh-CN" altLang="en-US"/>
          </a:p>
          <a:p>
            <a:pPr lvl="2"/>
            <a:r>
              <a:rPr lang="en-US" altLang="zh-CN"/>
              <a:t>Subbulletpoint_1_1_1</a:t>
            </a:r>
          </a:p>
          <a:p>
            <a:pPr marL="1523962" marR="0" lvl="2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Subbulletpoint_1_1_2</a:t>
            </a:r>
          </a:p>
          <a:p>
            <a:pPr lvl="1"/>
            <a:r>
              <a:rPr lang="en-US" altLang="zh-CN"/>
              <a:t>Subbulletpoint_1_2</a:t>
            </a:r>
            <a:endParaRPr lang="zh-CN" altLang="en-US"/>
          </a:p>
          <a:p>
            <a:pPr lvl="2"/>
            <a:r>
              <a:rPr lang="en-US" altLang="zh-CN"/>
              <a:t>Subbulletpoint_1_2_1</a:t>
            </a:r>
          </a:p>
          <a:p>
            <a:pPr marL="1523962" marR="0" lvl="2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Subbulletpoint_1_2_2</a:t>
            </a:r>
          </a:p>
          <a:p>
            <a:pPr lvl="2"/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6288022" y="1700808"/>
            <a:ext cx="5423925" cy="4128459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文本占位符 7">
            <a:extLst>
              <a:ext uri="{FF2B5EF4-FFF2-40B4-BE49-F238E27FC236}">
                <a16:creationId xmlns:a16="http://schemas.microsoft.com/office/drawing/2014/main" id="{C87528CF-A4D0-4E14-A379-E49689DA5C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9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631323" y="413125"/>
            <a:ext cx="6433211" cy="576361"/>
          </a:xfrm>
        </p:spPr>
        <p:txBody>
          <a:bodyPr>
            <a:normAutofit/>
          </a:bodyPr>
          <a:lstStyle>
            <a:lvl1pPr marL="217195" indent="0">
              <a:lnSpc>
                <a:spcPct val="100000"/>
              </a:lnSpc>
              <a:buNone/>
              <a:defRPr sz="2667" b="1">
                <a:latin typeface="+mj-lt"/>
                <a:cs typeface="Arial" panose="020B0604020202020204" pitchFamily="34" charset="0"/>
              </a:defRPr>
            </a:lvl1pPr>
            <a:lvl5pPr marL="2438339" indent="0">
              <a:buNone/>
              <a:defRPr/>
            </a:lvl5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239350" y="1700809"/>
            <a:ext cx="5280157" cy="41275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523962" marR="0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/>
              <a:t>Bulletpoint_1</a:t>
            </a:r>
            <a:endParaRPr lang="zh-CN" altLang="en-US"/>
          </a:p>
          <a:p>
            <a:pPr lvl="1"/>
            <a:r>
              <a:rPr lang="en-US" altLang="zh-CN"/>
              <a:t>Subbulletpoint_1_1</a:t>
            </a:r>
            <a:endParaRPr lang="zh-CN" altLang="en-US"/>
          </a:p>
          <a:p>
            <a:pPr lvl="2"/>
            <a:r>
              <a:rPr lang="en-US" altLang="zh-CN"/>
              <a:t>Subbulletpoint_1_1_1</a:t>
            </a:r>
          </a:p>
          <a:p>
            <a:pPr marL="1523962" marR="0" lvl="2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Subbulletpoint_1_1_2</a:t>
            </a:r>
          </a:p>
          <a:p>
            <a:pPr lvl="1"/>
            <a:r>
              <a:rPr lang="en-US" altLang="zh-CN"/>
              <a:t>Subbulletpoint_1_2</a:t>
            </a:r>
            <a:endParaRPr lang="zh-CN" altLang="en-US"/>
          </a:p>
          <a:p>
            <a:pPr lvl="2"/>
            <a:r>
              <a:rPr lang="en-US" altLang="zh-CN"/>
              <a:t>Subbulletpoint_1_2_1</a:t>
            </a:r>
          </a:p>
          <a:p>
            <a:pPr marL="1523962" marR="0" lvl="2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Subbulletpoint_1_2_2</a:t>
            </a:r>
          </a:p>
          <a:p>
            <a:pPr lvl="2"/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8" name="内容占位符 11"/>
          <p:cNvSpPr>
            <a:spLocks noGrp="1"/>
          </p:cNvSpPr>
          <p:nvPr>
            <p:ph sz="quarter" idx="12" hasCustomPrompt="1"/>
          </p:nvPr>
        </p:nvSpPr>
        <p:spPr>
          <a:xfrm>
            <a:off x="6480043" y="1700809"/>
            <a:ext cx="5280157" cy="41275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1523962" marR="0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>
                <a:latin typeface="+mn-lt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/>
              <a:t>Bulletpoint_1</a:t>
            </a:r>
            <a:endParaRPr lang="zh-CN" altLang="en-US"/>
          </a:p>
          <a:p>
            <a:pPr lvl="1"/>
            <a:r>
              <a:rPr lang="en-US" altLang="zh-CN"/>
              <a:t>Subbulletpoint_1_1</a:t>
            </a:r>
            <a:endParaRPr lang="zh-CN" altLang="en-US"/>
          </a:p>
          <a:p>
            <a:pPr lvl="2"/>
            <a:r>
              <a:rPr lang="en-US" altLang="zh-CN"/>
              <a:t>Subbulletpoint_1_1_1</a:t>
            </a:r>
          </a:p>
          <a:p>
            <a:pPr marL="1523962" marR="0" lvl="2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Subbulletpoint_1_1_2</a:t>
            </a:r>
          </a:p>
          <a:p>
            <a:pPr lvl="1"/>
            <a:r>
              <a:rPr lang="en-US" altLang="zh-CN"/>
              <a:t>Subbulletpoint_1_2</a:t>
            </a:r>
            <a:endParaRPr lang="zh-CN" altLang="en-US"/>
          </a:p>
          <a:p>
            <a:pPr lvl="2"/>
            <a:r>
              <a:rPr lang="en-US" altLang="zh-CN"/>
              <a:t>Subbulletpoint_1_2_1</a:t>
            </a:r>
          </a:p>
          <a:p>
            <a:pPr marL="1523962" marR="0" lvl="2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/>
              <a:t>Subbulletpoint_1_2_2</a:t>
            </a:r>
          </a:p>
          <a:p>
            <a:pPr lvl="2"/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8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239350" y="1316765"/>
            <a:ext cx="11713301" cy="4416856"/>
          </a:xfrm>
        </p:spPr>
        <p:txBody>
          <a:bodyPr/>
          <a:lstStyle>
            <a:lvl1pPr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239994">
              <a:buFont typeface="Wingdings" pitchFamily="2" charset="2"/>
              <a:buChar char="l"/>
              <a:defRPr sz="16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8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 userDrawn="1"/>
        </p:nvSpPr>
        <p:spPr>
          <a:xfrm>
            <a:off x="527381" y="1447800"/>
            <a:ext cx="10945216" cy="4425355"/>
          </a:xfrm>
          <a:prstGeom prst="rect">
            <a:avLst/>
          </a:prstGeom>
          <a:solidFill>
            <a:srgbClr val="E7E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内容占位符 6">
            <a:extLst>
              <a:ext uri="{FF2B5EF4-FFF2-40B4-BE49-F238E27FC236}">
                <a16:creationId xmlns:a16="http://schemas.microsoft.com/office/drawing/2014/main" id="{57FE2129-4789-73C2-D450-240F3FE0B4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7381" y="1489472"/>
            <a:ext cx="4704523" cy="4383683"/>
          </a:xfrm>
        </p:spPr>
        <p:txBody>
          <a:bodyPr/>
          <a:lstStyle>
            <a:lvl1pPr marL="217195" indent="0">
              <a:lnSpc>
                <a:spcPct val="150000"/>
              </a:lnSpc>
              <a:buNone/>
              <a:defRPr sz="1600" b="0">
                <a:latin typeface="+mn-lt"/>
              </a:defRPr>
            </a:lvl1pPr>
            <a:lvl2pPr marL="990575" indent="-239994">
              <a:buFont typeface="Wingdings" pitchFamily="2" charset="2"/>
              <a:buChar char="l"/>
              <a:defRPr sz="1600" b="0">
                <a:latin typeface="+mn-lt"/>
              </a:defRPr>
            </a:lvl2pPr>
          </a:lstStyle>
          <a:p>
            <a:pPr marL="217195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sed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</a:t>
            </a:r>
          </a:p>
          <a:p>
            <a:pPr marL="990575" marR="0" lvl="1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marL="990575" marR="0" lvl="1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3" name="圆角矩形 12"/>
          <p:cNvSpPr/>
          <p:nvPr userDrawn="1"/>
        </p:nvSpPr>
        <p:spPr>
          <a:xfrm>
            <a:off x="5327915" y="1447800"/>
            <a:ext cx="6528725" cy="44253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5" hasCustomPrompt="1"/>
          </p:nvPr>
        </p:nvSpPr>
        <p:spPr>
          <a:xfrm>
            <a:off x="5327915" y="1412776"/>
            <a:ext cx="6528725" cy="4416491"/>
          </a:xfrm>
          <a:noFill/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7" name="文本占位符 7">
            <a:extLst>
              <a:ext uri="{FF2B5EF4-FFF2-40B4-BE49-F238E27FC236}">
                <a16:creationId xmlns:a16="http://schemas.microsoft.com/office/drawing/2014/main" id="{44254EFB-7DE1-48A5-B16F-70452EE8C1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8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 userDrawn="1"/>
        </p:nvSpPr>
        <p:spPr>
          <a:xfrm>
            <a:off x="6576054" y="1508787"/>
            <a:ext cx="5088565" cy="4425355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内容占位符 6">
            <a:extLst>
              <a:ext uri="{FF2B5EF4-FFF2-40B4-BE49-F238E27FC236}">
                <a16:creationId xmlns:a16="http://schemas.microsoft.com/office/drawing/2014/main" id="{57FE2129-4789-73C2-D450-240F3FE0B4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576054" y="1508787"/>
            <a:ext cx="5088565" cy="4416491"/>
          </a:xfrm>
        </p:spPr>
        <p:txBody>
          <a:bodyPr/>
          <a:lstStyle>
            <a:lvl1pPr marL="217195" indent="0">
              <a:lnSpc>
                <a:spcPct val="150000"/>
              </a:lnSpc>
              <a:buNone/>
              <a:defRPr sz="1600" b="0">
                <a:latin typeface="+mn-lt"/>
              </a:defRPr>
            </a:lvl1pPr>
            <a:lvl2pPr marL="990575" indent="-239994">
              <a:buFont typeface="Wingdings" pitchFamily="2" charset="2"/>
              <a:buChar char="l"/>
              <a:defRPr sz="1600" b="0">
                <a:latin typeface="+mn-lt"/>
              </a:defRPr>
            </a:lvl2pPr>
          </a:lstStyle>
          <a:p>
            <a:pPr marL="217195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ipsum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sed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</a:t>
            </a:r>
          </a:p>
          <a:p>
            <a:pPr marL="990575" marR="0" lvl="1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marL="990575" marR="0" lvl="1" indent="-239994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Wingdings" pitchFamily="2" charset="2"/>
              <a:buChar char="l"/>
              <a:tabLst/>
              <a:defRPr/>
            </a:pPr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5" hasCustomPrompt="1"/>
          </p:nvPr>
        </p:nvSpPr>
        <p:spPr>
          <a:xfrm>
            <a:off x="431371" y="1508787"/>
            <a:ext cx="6192011" cy="4416491"/>
          </a:xfrm>
          <a:noFill/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7" name="文本占位符 7">
            <a:extLst>
              <a:ext uri="{FF2B5EF4-FFF2-40B4-BE49-F238E27FC236}">
                <a16:creationId xmlns:a16="http://schemas.microsoft.com/office/drawing/2014/main" id="{44254EFB-7DE1-48A5-B16F-70452EE8C1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00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241749" y="4101075"/>
            <a:ext cx="9654784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41749" y="4773149"/>
            <a:ext cx="9654784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r>
              <a:rPr lang="en-US" altLang="zh-CN"/>
              <a:t> magna </a:t>
            </a:r>
            <a:r>
              <a:rPr lang="en-US" altLang="zh-CN" err="1"/>
              <a:t>aliqua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1241749" y="1412776"/>
            <a:ext cx="9654785" cy="2592288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4" name="文本占位符 7">
            <a:extLst>
              <a:ext uri="{FF2B5EF4-FFF2-40B4-BE49-F238E27FC236}">
                <a16:creationId xmlns:a16="http://schemas.microsoft.com/office/drawing/2014/main" id="{1BB05A9A-71CE-40AF-BDA3-6055A8FDC5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17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679509" y="4005064"/>
            <a:ext cx="3414091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679509" y="4677139"/>
            <a:ext cx="3414091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1679510" y="1412777"/>
            <a:ext cx="3456383" cy="2457263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1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6959943" y="4005064"/>
            <a:ext cx="3414091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6959943" y="4677139"/>
            <a:ext cx="3414091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6960097" y="1412777"/>
            <a:ext cx="3456383" cy="2457263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9" name="文本占位符 7">
            <a:extLst>
              <a:ext uri="{FF2B5EF4-FFF2-40B4-BE49-F238E27FC236}">
                <a16:creationId xmlns:a16="http://schemas.microsoft.com/office/drawing/2014/main" id="{48C8C184-8BC1-4D76-8389-2477119608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3887755" y="1412776"/>
            <a:ext cx="7296811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887755" y="2084851"/>
            <a:ext cx="7296811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r>
              <a:rPr lang="en-US" altLang="zh-CN"/>
              <a:t> magna </a:t>
            </a:r>
            <a:r>
              <a:rPr lang="en-US" altLang="zh-CN" err="1"/>
              <a:t>aliqua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1241750" y="1316568"/>
            <a:ext cx="2357972" cy="2112432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1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3887755" y="3717229"/>
            <a:ext cx="7296811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3887755" y="4389304"/>
            <a:ext cx="7296811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r>
              <a:rPr lang="en-US" altLang="zh-CN"/>
              <a:t> magna </a:t>
            </a:r>
            <a:r>
              <a:rPr lang="en-US" altLang="zh-CN" err="1"/>
              <a:t>aliqua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13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1241750" y="3621021"/>
            <a:ext cx="2357972" cy="2112432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9" name="文本占位符 7">
            <a:extLst>
              <a:ext uri="{FF2B5EF4-FFF2-40B4-BE49-F238E27FC236}">
                <a16:creationId xmlns:a16="http://schemas.microsoft.com/office/drawing/2014/main" id="{6EAB2BDD-79DE-4F54-B97F-D5FED978BA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81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图片占位符 3"/>
          <p:cNvSpPr>
            <a:spLocks noGrp="1"/>
          </p:cNvSpPr>
          <p:nvPr>
            <p:ph type="pic" sz="quarter" idx="20" hasCustomPrompt="1"/>
          </p:nvPr>
        </p:nvSpPr>
        <p:spPr>
          <a:xfrm>
            <a:off x="4559829" y="3140968"/>
            <a:ext cx="2784311" cy="2880517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911426" y="4197944"/>
            <a:ext cx="2784309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911426" y="4870019"/>
            <a:ext cx="2784309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911425" y="1220755"/>
            <a:ext cx="2784311" cy="2880517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23" name="内容占位符 6"/>
          <p:cNvSpPr>
            <a:spLocks noGrp="1"/>
          </p:cNvSpPr>
          <p:nvPr>
            <p:ph sz="quarter" idx="15" hasCustomPrompt="1"/>
          </p:nvPr>
        </p:nvSpPr>
        <p:spPr>
          <a:xfrm>
            <a:off x="8208235" y="4197944"/>
            <a:ext cx="2784309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8208235" y="4870019"/>
            <a:ext cx="2784309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sp>
        <p:nvSpPr>
          <p:cNvPr id="25" name="图片占位符 3"/>
          <p:cNvSpPr>
            <a:spLocks noGrp="1"/>
          </p:cNvSpPr>
          <p:nvPr>
            <p:ph type="pic" sz="quarter" idx="17" hasCustomPrompt="1"/>
          </p:nvPr>
        </p:nvSpPr>
        <p:spPr>
          <a:xfrm>
            <a:off x="8208234" y="1220755"/>
            <a:ext cx="2784311" cy="2880517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27" name="内容占位符 6"/>
          <p:cNvSpPr>
            <a:spLocks noGrp="1"/>
          </p:cNvSpPr>
          <p:nvPr>
            <p:ph sz="quarter" idx="18" hasCustomPrompt="1"/>
          </p:nvPr>
        </p:nvSpPr>
        <p:spPr>
          <a:xfrm>
            <a:off x="4559830" y="1220952"/>
            <a:ext cx="2784309" cy="672440"/>
          </a:xfrm>
        </p:spPr>
        <p:txBody>
          <a:bodyPr/>
          <a:lstStyle>
            <a:lvl1pPr marL="0"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380990">
              <a:buFont typeface="Wingdings" pitchFamily="2" charset="2"/>
              <a:buChar char="l"/>
              <a:defRPr sz="1600" b="0"/>
            </a:lvl2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28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559830" y="1893027"/>
            <a:ext cx="2784309" cy="1151467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endParaRPr lang="zh-CN" altLang="en-US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20" name="文本占位符 7">
            <a:extLst>
              <a:ext uri="{FF2B5EF4-FFF2-40B4-BE49-F238E27FC236}">
                <a16:creationId xmlns:a16="http://schemas.microsoft.com/office/drawing/2014/main" id="{501A36D1-8107-4F74-8855-8BC026E246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27" y="538744"/>
            <a:ext cx="1503683" cy="32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75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3"/>
          <p:cNvSpPr>
            <a:spLocks noGrp="1"/>
          </p:cNvSpPr>
          <p:nvPr>
            <p:ph type="pic" sz="quarter" idx="14" hasCustomPrompt="1"/>
          </p:nvPr>
        </p:nvSpPr>
        <p:spPr>
          <a:xfrm>
            <a:off x="2255573" y="2277192"/>
            <a:ext cx="2880320" cy="2880000"/>
          </a:xfrm>
          <a:solidFill>
            <a:srgbClr val="E7E2D9"/>
          </a:solidFill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</a:lstStyle>
          <a:p>
            <a:r>
              <a:rPr lang="en-US" altLang="zh-CN"/>
              <a:t>Image</a:t>
            </a:r>
            <a:endParaRPr lang="zh-CN" altLang="en-US"/>
          </a:p>
        </p:txBody>
      </p:sp>
      <p:sp>
        <p:nvSpPr>
          <p:cNvPr id="1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807968" y="2661245"/>
            <a:ext cx="3264363" cy="479723"/>
          </a:xfrm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n-lt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19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5807967" y="3621021"/>
            <a:ext cx="3264364" cy="479723"/>
          </a:xfrm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n-lt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68" y="4581459"/>
            <a:ext cx="3264363" cy="479723"/>
          </a:xfrm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 sz="1600" b="0">
                <a:latin typeface="+mn-lt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F58220"/>
              </a:buClr>
              <a:buSzPct val="80000"/>
              <a:buFont typeface="微软雅黑" pitchFamily="34" charset="-122"/>
              <a:buNone/>
              <a:tabLst/>
              <a:defRPr/>
            </a:pPr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endParaRPr lang="zh-CN" altLang="en-US"/>
          </a:p>
        </p:txBody>
      </p:sp>
      <p:sp>
        <p:nvSpPr>
          <p:cNvPr id="1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68" y="2276885"/>
            <a:ext cx="1171647" cy="324665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667"/>
              </a:lnSpc>
              <a:spcBef>
                <a:spcPts val="0"/>
              </a:spcBef>
              <a:buNone/>
              <a:defRPr sz="1867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Website</a:t>
            </a:r>
            <a:endParaRPr lang="zh-CN" altLang="en-US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5807968" y="3236992"/>
            <a:ext cx="910734" cy="324665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667"/>
              </a:lnSpc>
              <a:spcBef>
                <a:spcPts val="0"/>
              </a:spcBef>
              <a:buNone/>
              <a:defRPr sz="1867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Email</a:t>
            </a:r>
            <a:endParaRPr lang="zh-CN" altLang="en-US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69" y="4197098"/>
            <a:ext cx="998673" cy="324665"/>
          </a:xfrm>
          <a:prstGeom prst="roundRect">
            <a:avLst>
              <a:gd name="adj" fmla="val 50000"/>
            </a:avLst>
          </a:prstGeom>
          <a:solidFill>
            <a:srgbClr val="E7E2D9"/>
          </a:solidFill>
        </p:spPr>
        <p:txBody>
          <a:bodyPr wrap="none" lIns="108000" tIns="108000" rIns="108000" bIns="0" anchor="ctr" anchorCtr="1">
            <a:spAutoFit/>
          </a:bodyPr>
          <a:lstStyle>
            <a:lvl1pPr marL="0" indent="0">
              <a:lnSpc>
                <a:spcPts val="667"/>
              </a:lnSpc>
              <a:spcBef>
                <a:spcPts val="0"/>
              </a:spcBef>
              <a:buNone/>
              <a:defRPr sz="1867" b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Phone</a:t>
            </a:r>
            <a:endParaRPr lang="zh-CN" altLang="en-US"/>
          </a:p>
        </p:txBody>
      </p:sp>
      <p:pic>
        <p:nvPicPr>
          <p:cNvPr id="2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4848226" y="1043105"/>
            <a:ext cx="2495549" cy="4389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altLang="en-US" sz="2667" b="0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CONTACT US</a:t>
            </a:r>
            <a:endParaRPr lang="zh-CN" altLang="en-US"/>
          </a:p>
        </p:txBody>
      </p:sp>
      <p:pic>
        <p:nvPicPr>
          <p:cNvPr id="24" name="Picture 2" descr="D:\other\PPT\Patterns JE_RGB-Corporate.png">
            <a:extLst>
              <a:ext uri="{FF2B5EF4-FFF2-40B4-BE49-F238E27FC236}">
                <a16:creationId xmlns:a16="http://schemas.microsoft.com/office/drawing/2014/main" id="{259CDCC2-4A2E-4B99-AFCC-2B17937692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" t="1" b="1516"/>
          <a:stretch/>
        </p:blipFill>
        <p:spPr bwMode="auto">
          <a:xfrm>
            <a:off x="8647484" y="-17483"/>
            <a:ext cx="3544515" cy="623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280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5360" y="451264"/>
            <a:ext cx="7776864" cy="1033115"/>
          </a:xfrm>
        </p:spPr>
        <p:txBody>
          <a:bodyPr>
            <a:noAutofit/>
          </a:bodyPr>
          <a:lstStyle>
            <a:lvl1pPr algn="l">
              <a:defRPr sz="5333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CN"/>
              <a:t>THE END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35360" y="1484379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667" b="0">
                <a:solidFill>
                  <a:schemeClr val="tx1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THANK YOU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" t="1" b="1516"/>
          <a:stretch/>
        </p:blipFill>
        <p:spPr bwMode="auto">
          <a:xfrm>
            <a:off x="8280739" y="-17483"/>
            <a:ext cx="3911260" cy="687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5286243"/>
            <a:ext cx="3534753" cy="157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0736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 2">
    <p:bg>
      <p:bgPr>
        <a:solidFill>
          <a:srgbClr val="E7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5360" y="451264"/>
            <a:ext cx="7776864" cy="1033115"/>
          </a:xfrm>
        </p:spPr>
        <p:txBody>
          <a:bodyPr>
            <a:noAutofit/>
          </a:bodyPr>
          <a:lstStyle>
            <a:lvl1pPr algn="l">
              <a:defRPr sz="5333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altLang="zh-CN"/>
              <a:t>THE END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35360" y="1484379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667" b="0">
                <a:solidFill>
                  <a:schemeClr val="tx1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THANK YOU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" t="1" b="1516"/>
          <a:stretch/>
        </p:blipFill>
        <p:spPr bwMode="auto">
          <a:xfrm>
            <a:off x="8280739" y="-17483"/>
            <a:ext cx="3911260" cy="687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:\other\PPT\4\logo.jpg">
            <a:extLst>
              <a:ext uri="{FF2B5EF4-FFF2-40B4-BE49-F238E27FC236}">
                <a16:creationId xmlns:a16="http://schemas.microsoft.com/office/drawing/2014/main" id="{BABB818B-49A2-4BF7-B180-28EFD5FDDA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281349"/>
            <a:ext cx="3534752" cy="157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818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03" y="116632"/>
            <a:ext cx="10668000" cy="648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0151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239350" y="1316765"/>
            <a:ext cx="11713301" cy="4416856"/>
          </a:xfrm>
        </p:spPr>
        <p:txBody>
          <a:bodyPr/>
          <a:lstStyle>
            <a:lvl1pPr indent="-239994">
              <a:lnSpc>
                <a:spcPct val="150000"/>
              </a:lnSpc>
              <a:defRPr sz="2133">
                <a:latin typeface="+mn-lt"/>
              </a:defRPr>
            </a:lvl1pPr>
            <a:lvl2pPr marL="990575" indent="-239994">
              <a:buFont typeface="Wingdings" pitchFamily="2" charset="2"/>
              <a:buChar char="l"/>
              <a:defRPr sz="16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0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26224" y="6117299"/>
            <a:ext cx="1665777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43339" y="6405331"/>
            <a:ext cx="1056117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fld id="{859EBC02-4C5A-48BF-8495-108B2AB07E9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424786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70051" y="488753"/>
            <a:ext cx="2495549" cy="438932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133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45643"/>
            <a:ext cx="1536325" cy="3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5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  <a:p>
            <a:pPr lvl="2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2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58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dt="0"/>
  <p:txStyles>
    <p:titleStyle>
      <a:lvl1pPr algn="ctr" defTabSz="1219170" rtl="0" eaLnBrk="1" latinLnBrk="0" hangingPunct="1">
        <a:spcBef>
          <a:spcPct val="0"/>
        </a:spcBef>
        <a:buNone/>
        <a:defRPr sz="5333" b="1" kern="1200">
          <a:solidFill>
            <a:srgbClr val="F58220"/>
          </a:solidFill>
          <a:latin typeface="+mj-lt"/>
          <a:ea typeface="+mj-ea"/>
          <a:cs typeface="+mj-cs"/>
        </a:defRPr>
      </a:lvl1pPr>
    </p:titleStyle>
    <p:bodyStyle>
      <a:lvl1pPr marL="457189" indent="-239994" algn="l" defTabSz="121917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667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239994" algn="l" defTabSz="121917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133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239994" algn="l" defTabSz="121917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lang="zh-CN" alt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0" algn="l" defTabSz="1219170" rtl="0" eaLnBrk="1" latinLnBrk="0" hangingPunct="1">
        <a:spcBef>
          <a:spcPct val="20000"/>
        </a:spcBef>
        <a:buFontTx/>
        <a:buNone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0" algn="l" defTabSz="1219170" rtl="0" eaLnBrk="1" latinLnBrk="0" hangingPunct="1">
        <a:spcBef>
          <a:spcPct val="20000"/>
        </a:spcBef>
        <a:buFontTx/>
        <a:buNone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indent="0" algn="l" defTabSz="1219170" rtl="0" eaLnBrk="1" latinLnBrk="0" hangingPunct="1">
        <a:spcBef>
          <a:spcPct val="20000"/>
        </a:spcBef>
        <a:buFontTx/>
        <a:buNone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indent="0" algn="l" defTabSz="1219170" rtl="0" eaLnBrk="1" latinLnBrk="0" hangingPunct="1">
        <a:spcBef>
          <a:spcPct val="20000"/>
        </a:spcBef>
        <a:buFontTx/>
        <a:buNone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indent="0" algn="l" defTabSz="1219170" rtl="0" eaLnBrk="1" latinLnBrk="0" hangingPunct="1">
        <a:spcBef>
          <a:spcPct val="20000"/>
        </a:spcBef>
        <a:buFontTx/>
        <a:buNone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2">
            <a:extLst>
              <a:ext uri="{FF2B5EF4-FFF2-40B4-BE49-F238E27FC236}">
                <a16:creationId xmlns:a16="http://schemas.microsoft.com/office/drawing/2014/main" id="{FA44B430-CD0E-4B48-8E5D-24F3F52F91B8}"/>
              </a:ext>
            </a:extLst>
          </p:cNvPr>
          <p:cNvSpPr txBox="1">
            <a:spLocks/>
          </p:cNvSpPr>
          <p:nvPr/>
        </p:nvSpPr>
        <p:spPr>
          <a:xfrm>
            <a:off x="335360" y="4869160"/>
            <a:ext cx="2400267" cy="407045"/>
          </a:xfrm>
          <a:prstGeom prst="rect">
            <a:avLst/>
          </a:prstGeom>
        </p:spPr>
        <p:txBody>
          <a:bodyPr vert="horz" lIns="121920" tIns="60960" rIns="121920" bIns="6096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24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sz="1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320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B0F56477-A2F4-A35C-235D-9FA946F3A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7840" y="1235645"/>
            <a:ext cx="8817876" cy="1033115"/>
          </a:xfrm>
        </p:spPr>
        <p:txBody>
          <a:bodyPr/>
          <a:lstStyle/>
          <a:p>
            <a:r>
              <a:rPr lang="en-US" altLang="ko-KR" sz="3600" dirty="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EHS Weekly Meeting</a:t>
            </a:r>
            <a:endParaRPr lang="ko-KR" altLang="en-US" sz="3600" dirty="0">
              <a:solidFill>
                <a:srgbClr val="F5822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975A18FC-542C-0EAF-B173-4A47D33B87E2}"/>
              </a:ext>
            </a:extLst>
          </p:cNvPr>
          <p:cNvSpPr txBox="1">
            <a:spLocks/>
          </p:cNvSpPr>
          <p:nvPr/>
        </p:nvSpPr>
        <p:spPr>
          <a:xfrm>
            <a:off x="927840" y="2530016"/>
            <a:ext cx="6774100" cy="3287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609585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</a:p>
          <a:p>
            <a:endParaRPr lang="en-US" altLang="ko-KR" sz="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b="1" dirty="0"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Ⅰ. Work in progress</a:t>
            </a:r>
            <a:endParaRPr lang="en-US" altLang="ko-KR" sz="14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36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8A4D-4641-CB04-14FD-B3B683FD8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939287F-64DB-276B-9CFD-CDED661AF47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670051" y="488753"/>
            <a:ext cx="8220569" cy="438932"/>
          </a:xfrm>
        </p:spPr>
        <p:txBody>
          <a:bodyPr anchor="ctr"/>
          <a:lstStyle/>
          <a:p>
            <a:r>
              <a:rPr lang="en-US" altLang="ko-KR" sz="24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EHS related reporting </a:t>
            </a:r>
            <a:endParaRPr lang="ko-KR" altLang="en-US" sz="2800" dirty="0">
              <a:latin typeface="Arial" panose="020B0604020202020204" pitchFamily="34" charset="0"/>
            </a:endParaRP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002542F2-683B-B58E-2ABC-666D1B28B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4800" y="6603873"/>
            <a:ext cx="914400" cy="246888"/>
          </a:xfrm>
        </p:spPr>
        <p:txBody>
          <a:bodyPr/>
          <a:lstStyle/>
          <a:p>
            <a:pPr algn="l"/>
            <a:r>
              <a:rPr lang="en-GB" altLang="zh-TW" dirty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Page </a:t>
            </a:r>
            <a:fld id="{A9E8564A-22AD-4F96-9BF4-D98D4DEF7BDB}" type="slidenum">
              <a:rPr lang="en-GB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pPr algn="l"/>
              <a:t>2</a:t>
            </a:fld>
            <a:endParaRPr lang="en-GB" altLang="zh-TW" dirty="0">
              <a:solidFill>
                <a:srgbClr val="000000"/>
              </a:solidFill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983594CE-E732-0D37-ED8E-B5473CC85A7C}"/>
              </a:ext>
            </a:extLst>
          </p:cNvPr>
          <p:cNvSpPr/>
          <p:nvPr/>
        </p:nvSpPr>
        <p:spPr bwMode="auto">
          <a:xfrm>
            <a:off x="6095999" y="1006343"/>
            <a:ext cx="5515897" cy="328059"/>
          </a:xfrm>
          <a:prstGeom prst="rect">
            <a:avLst/>
          </a:prstGeom>
          <a:solidFill>
            <a:srgbClr val="E7E2D9"/>
          </a:solidFill>
          <a:ln w="9525" cap="flat" cmpd="sng" algn="ctr">
            <a:solidFill>
              <a:srgbClr val="E7E2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Ongoing Tasks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2">
            <a:extLst>
              <a:ext uri="{FF2B5EF4-FFF2-40B4-BE49-F238E27FC236}">
                <a16:creationId xmlns:a16="http://schemas.microsoft.com/office/drawing/2014/main" id="{FDA83A14-5834-617A-37C5-A14F393FA1CB}"/>
              </a:ext>
            </a:extLst>
          </p:cNvPr>
          <p:cNvSpPr/>
          <p:nvPr/>
        </p:nvSpPr>
        <p:spPr bwMode="auto">
          <a:xfrm>
            <a:off x="304799" y="1006343"/>
            <a:ext cx="5515897" cy="328059"/>
          </a:xfrm>
          <a:prstGeom prst="rect">
            <a:avLst/>
          </a:prstGeom>
          <a:solidFill>
            <a:srgbClr val="E7E2D9"/>
          </a:solidFill>
          <a:ln w="9525" cap="flat" cmpd="sng" algn="ctr">
            <a:solidFill>
              <a:srgbClr val="E7E2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New Issues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4F2BE-A850-98FB-C218-70B810D47214}"/>
              </a:ext>
            </a:extLst>
          </p:cNvPr>
          <p:cNvSpPr txBox="1"/>
          <p:nvPr/>
        </p:nvSpPr>
        <p:spPr>
          <a:xfrm>
            <a:off x="6056668" y="1334402"/>
            <a:ext cx="5968184" cy="492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1. Safety Culture implementation </a:t>
            </a:r>
            <a:r>
              <a:rPr lang="en-US" sz="1400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(On going)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• Issue identified: 29 cases in July,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10 cases Completed 19 cases Open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 Heat Stress Management </a:t>
            </a:r>
            <a:r>
              <a:rPr lang="en-US" sz="1400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(Weekly check Temperature)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200" dirty="0"/>
              <a:t>Scheduled from July to the end of September.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200" dirty="0">
                <a:highlight>
                  <a:srgbClr val="FFFF00"/>
                </a:highlight>
              </a:rPr>
              <a:t>109 additional rest breaks provided (10 min/break)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3. Work Environment Monitoring </a:t>
            </a: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(Completed)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• Conducted June 22 Noise, Metalworking Fluids, Metals, Heat Stress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• B</a:t>
            </a:r>
            <a:r>
              <a:rPr lang="en-US" sz="1200" dirty="0">
                <a:highlight>
                  <a:srgbClr val="FFFF00"/>
                </a:highlight>
              </a:rPr>
              <a:t>arrel process recorded a noise level of 90.6 dB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1200" dirty="0">
                <a:highlight>
                  <a:srgbClr val="FFFF00"/>
                </a:highlight>
              </a:rPr>
              <a:t> Hearing Conservation Program will be submitted to the local government. </a:t>
            </a:r>
          </a:p>
          <a:p>
            <a:pPr>
              <a:lnSpc>
                <a:spcPct val="150000"/>
              </a:lnSpc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 PIT Two-Person Authentication System </a:t>
            </a:r>
            <a:r>
              <a:rPr lang="en-US" sz="1400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(On going)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200" dirty="0"/>
              <a:t>In-house development of the facial recognition device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1200" dirty="0">
                <a:highlight>
                  <a:srgbClr val="FFFF00"/>
                </a:highlight>
              </a:rPr>
              <a:t> Fence installation quotations are currently being compared contractors.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5. COP4, 5 Audit improvement </a:t>
            </a:r>
            <a:r>
              <a:rPr lang="en-US" sz="1400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(On going)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6. Blood sugar management will be start from 13. Aug </a:t>
            </a:r>
            <a:r>
              <a:rPr lang="en-US" sz="1400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(On going)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7. Compliance with Regulations on Hazardous Chemicals </a:t>
            </a:r>
            <a:r>
              <a:rPr lang="en-US" sz="1400" b="1" dirty="0">
                <a:solidFill>
                  <a:srgbClr val="F79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(On going)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1200" dirty="0"/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Quotations Request in Progress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D93F9E5-1BC0-767F-4219-89431B7E9DDA}"/>
              </a:ext>
            </a:extLst>
          </p:cNvPr>
          <p:cNvGrpSpPr/>
          <p:nvPr/>
        </p:nvGrpSpPr>
        <p:grpSpPr>
          <a:xfrm>
            <a:off x="10220018" y="724697"/>
            <a:ext cx="1503592" cy="369332"/>
            <a:chOff x="10206728" y="724697"/>
            <a:chExt cx="1227501" cy="36933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5D80482-9289-A6FD-B134-A15AF54AA264}"/>
                </a:ext>
              </a:extLst>
            </p:cNvPr>
            <p:cNvSpPr/>
            <p:nvPr/>
          </p:nvSpPr>
          <p:spPr>
            <a:xfrm>
              <a:off x="10268876" y="733841"/>
              <a:ext cx="452935" cy="22127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8A7390-F5DC-94EA-1133-807ACC8A3C03}"/>
                </a:ext>
              </a:extLst>
            </p:cNvPr>
            <p:cNvSpPr txBox="1"/>
            <p:nvPr/>
          </p:nvSpPr>
          <p:spPr>
            <a:xfrm>
              <a:off x="10206728" y="724697"/>
              <a:ext cx="1227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Yellow text = Updated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AF8F2F-1C40-F90C-A7EB-0AA4B5E0B736}"/>
              </a:ext>
            </a:extLst>
          </p:cNvPr>
          <p:cNvSpPr txBox="1"/>
          <p:nvPr/>
        </p:nvSpPr>
        <p:spPr>
          <a:xfrm>
            <a:off x="304799" y="1385628"/>
            <a:ext cx="6094476" cy="9353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Summer Holiday Period (Aug. 3–7)</a:t>
            </a:r>
          </a:p>
          <a:p>
            <a:r>
              <a:rPr lang="en-US" sz="1200" b="0" dirty="0"/>
              <a:t>Will Identify all construction work during the holiday period.</a:t>
            </a:r>
          </a:p>
          <a:p>
            <a:r>
              <a:rPr lang="en-US" sz="1200" b="0" dirty="0"/>
              <a:t>Will Issue work permits and communicate safety requirements</a:t>
            </a:r>
          </a:p>
        </p:txBody>
      </p:sp>
    </p:spTree>
    <p:extLst>
      <p:ext uri="{BB962C8B-B14F-4D97-AF65-F5344CB8AC3E}">
        <p14:creationId xmlns:p14="http://schemas.microsoft.com/office/powerpoint/2010/main" val="294928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84A3D-D7BF-2B5D-7210-B6CFE2BD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ED5DDB-09A2-7974-705F-26D6CB160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1219170"/>
            <a:r>
              <a:rPr lang="en-US" altLang="zh-CN">
                <a:solidFill>
                  <a:prstClr val="black"/>
                </a:solidFill>
                <a:latin typeface="helvetica"/>
                <a:ea typeface="黑体"/>
              </a:rPr>
              <a:t>Page </a:t>
            </a:r>
            <a:fld id="{F8BBB196-3CE5-4D52-AAD5-A832984A2C7D}" type="slidenum">
              <a:rPr lang="zh-CN" altLang="en-US">
                <a:solidFill>
                  <a:prstClr val="black"/>
                </a:solidFill>
                <a:latin typeface="helvetica"/>
                <a:ea typeface="黑体"/>
              </a:rPr>
              <a:pPr defTabSz="1219170"/>
              <a:t>3</a:t>
            </a:fld>
            <a:endParaRPr lang="zh-CN" altLang="en-US">
              <a:solidFill>
                <a:prstClr val="black"/>
              </a:solidFill>
              <a:latin typeface="helvetica"/>
              <a:ea typeface="黑体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2510B-31CC-8EA3-0459-9CE2ECA77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05285" y="6387057"/>
            <a:ext cx="3860800" cy="366183"/>
          </a:xfrm>
        </p:spPr>
        <p:txBody>
          <a:bodyPr/>
          <a:lstStyle/>
          <a:p>
            <a:pPr defTabSz="1219170"/>
            <a:r>
              <a:rPr lang="en-US" altLang="zh-CN" dirty="0">
                <a:solidFill>
                  <a:prstClr val="black"/>
                </a:solidFill>
                <a:latin typeface="helvetica"/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solidFill>
                <a:prstClr val="black"/>
              </a:solidFill>
              <a:latin typeface="helvetica"/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0ECF6-BA9B-EB61-F115-A072B3F887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600381" y="540681"/>
            <a:ext cx="6428921" cy="329401"/>
          </a:xfrm>
        </p:spPr>
        <p:txBody>
          <a:bodyPr/>
          <a:lstStyle/>
          <a:p>
            <a:r>
              <a:rPr lang="en-US" altLang="zh-CN" dirty="0"/>
              <a:t>Weekly Update of Safety Culture Platform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DE01327-FFE0-9F07-1C08-4DA6502A7829}"/>
              </a:ext>
            </a:extLst>
          </p:cNvPr>
          <p:cNvSpPr txBox="1">
            <a:spLocks/>
          </p:cNvSpPr>
          <p:nvPr/>
        </p:nvSpPr>
        <p:spPr>
          <a:xfrm>
            <a:off x="314688" y="1102106"/>
            <a:ext cx="1932123" cy="3086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1219170">
              <a:buFont typeface="Wingdings" panose="05000000000000000000" pitchFamily="2" charset="2"/>
              <a:buChar char="§"/>
            </a:pPr>
            <a:r>
              <a:rPr lang="en-US" altLang="zh-CN" sz="1467" dirty="0">
                <a:solidFill>
                  <a:srgbClr val="F58220"/>
                </a:solidFill>
              </a:rPr>
              <a:t>Number Summary</a:t>
            </a:r>
            <a:endParaRPr lang="en-US" altLang="en-US" sz="1467" dirty="0">
              <a:solidFill>
                <a:srgbClr val="F58220"/>
              </a:solidFill>
              <a:latin typeface="helvetica"/>
              <a:ea typeface="黑体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5A874EA-90E3-DB5E-13B7-7D8C4926C4B3}"/>
              </a:ext>
            </a:extLst>
          </p:cNvPr>
          <p:cNvSpPr txBox="1">
            <a:spLocks/>
          </p:cNvSpPr>
          <p:nvPr/>
        </p:nvSpPr>
        <p:spPr>
          <a:xfrm>
            <a:off x="7871254" y="3265342"/>
            <a:ext cx="3334204" cy="3086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1219170">
              <a:buFont typeface="Wingdings" panose="05000000000000000000" pitchFamily="2" charset="2"/>
              <a:buChar char="§"/>
            </a:pPr>
            <a:r>
              <a:rPr lang="en-US" altLang="zh-CN" sz="1467" dirty="0">
                <a:solidFill>
                  <a:srgbClr val="F58220"/>
                </a:solidFill>
              </a:rPr>
              <a:t>The photo of Safety Alerts Review</a:t>
            </a:r>
            <a:endParaRPr lang="en-US" altLang="en-US" sz="1467" dirty="0">
              <a:solidFill>
                <a:srgbClr val="F58220"/>
              </a:solidFill>
              <a:latin typeface="helvetica"/>
              <a:ea typeface="黑体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D24E02-B38A-B240-11BC-5924BCBD2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046542"/>
              </p:ext>
            </p:extLst>
          </p:nvPr>
        </p:nvGraphicFramePr>
        <p:xfrm>
          <a:off x="620030" y="1448536"/>
          <a:ext cx="10744655" cy="1362075"/>
        </p:xfrm>
        <a:graphic>
          <a:graphicData uri="http://schemas.openxmlformats.org/drawingml/2006/table">
            <a:tbl>
              <a:tblPr/>
              <a:tblGrid>
                <a:gridCol w="1976755">
                  <a:extLst>
                    <a:ext uri="{9D8B030D-6E8A-4147-A177-3AD203B41FA5}">
                      <a16:colId xmlns:a16="http://schemas.microsoft.com/office/drawing/2014/main" val="2499617995"/>
                    </a:ext>
                  </a:extLst>
                </a:gridCol>
                <a:gridCol w="1605501">
                  <a:extLst>
                    <a:ext uri="{9D8B030D-6E8A-4147-A177-3AD203B41FA5}">
                      <a16:colId xmlns:a16="http://schemas.microsoft.com/office/drawing/2014/main" val="313343240"/>
                    </a:ext>
                  </a:extLst>
                </a:gridCol>
                <a:gridCol w="1275873">
                  <a:extLst>
                    <a:ext uri="{9D8B030D-6E8A-4147-A177-3AD203B41FA5}">
                      <a16:colId xmlns:a16="http://schemas.microsoft.com/office/drawing/2014/main" val="2135178573"/>
                    </a:ext>
                  </a:extLst>
                </a:gridCol>
                <a:gridCol w="1262968">
                  <a:extLst>
                    <a:ext uri="{9D8B030D-6E8A-4147-A177-3AD203B41FA5}">
                      <a16:colId xmlns:a16="http://schemas.microsoft.com/office/drawing/2014/main" val="1871317844"/>
                    </a:ext>
                  </a:extLst>
                </a:gridCol>
                <a:gridCol w="1306235">
                  <a:extLst>
                    <a:ext uri="{9D8B030D-6E8A-4147-A177-3AD203B41FA5}">
                      <a16:colId xmlns:a16="http://schemas.microsoft.com/office/drawing/2014/main" val="3807451067"/>
                    </a:ext>
                  </a:extLst>
                </a:gridCol>
                <a:gridCol w="1176625">
                  <a:extLst>
                    <a:ext uri="{9D8B030D-6E8A-4147-A177-3AD203B41FA5}">
                      <a16:colId xmlns:a16="http://schemas.microsoft.com/office/drawing/2014/main" val="1858183965"/>
                    </a:ext>
                  </a:extLst>
                </a:gridCol>
                <a:gridCol w="1055387">
                  <a:extLst>
                    <a:ext uri="{9D8B030D-6E8A-4147-A177-3AD203B41FA5}">
                      <a16:colId xmlns:a16="http://schemas.microsoft.com/office/drawing/2014/main" val="3238104756"/>
                    </a:ext>
                  </a:extLst>
                </a:gridCol>
                <a:gridCol w="1085311">
                  <a:extLst>
                    <a:ext uri="{9D8B030D-6E8A-4147-A177-3AD203B41FA5}">
                      <a16:colId xmlns:a16="http://schemas.microsoft.com/office/drawing/2014/main" val="3986833432"/>
                    </a:ext>
                  </a:extLst>
                </a:gridCol>
              </a:tblGrid>
              <a:tr h="27241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Safety Alert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FY26/27 Target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FY26/27 YTD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 Jun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Last 2 Week (7.04-7.18)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440362"/>
                  </a:ext>
                </a:extLst>
              </a:tr>
              <a:tr h="2724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Safety Alert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Close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Action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678043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JEO Korea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Hazards &amp; Issue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504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304353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JEO Korea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Near Miss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741980"/>
                  </a:ext>
                </a:extLst>
              </a:tr>
              <a:tr h="27241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516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0093"/>
                  </a:ext>
                </a:extLst>
              </a:tr>
            </a:tbl>
          </a:graphicData>
        </a:graphic>
      </p:graphicFrame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F5D1DFD-2B92-E696-49B3-F1E318E9B77D}"/>
              </a:ext>
            </a:extLst>
          </p:cNvPr>
          <p:cNvSpPr txBox="1">
            <a:spLocks/>
          </p:cNvSpPr>
          <p:nvPr/>
        </p:nvSpPr>
        <p:spPr>
          <a:xfrm>
            <a:off x="314688" y="3274658"/>
            <a:ext cx="3334204" cy="3086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58220"/>
              </a:buClr>
              <a:buSzPct val="80000"/>
              <a:buFont typeface="Wingdings" pitchFamily="2" charset="2"/>
              <a:buNone/>
              <a:defRPr lang="zh-CN" altLang="en-US" sz="18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1800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Clr>
                <a:srgbClr val="F58220"/>
              </a:buClr>
              <a:buSzPct val="80000"/>
              <a:buFont typeface="Wingdings" pitchFamily="2" charset="2"/>
              <a:buChar char="l"/>
              <a:defRPr lang="zh-CN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1219170">
              <a:buFont typeface="Wingdings" panose="05000000000000000000" pitchFamily="2" charset="2"/>
              <a:buChar char="§"/>
            </a:pPr>
            <a:r>
              <a:rPr lang="en-US" altLang="en-US" sz="1467" dirty="0">
                <a:solidFill>
                  <a:srgbClr val="F58220"/>
                </a:solidFill>
                <a:latin typeface="helvetica"/>
                <a:ea typeface="黑体"/>
              </a:rPr>
              <a:t>Summary of May</a:t>
            </a:r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7C4A30E-36B6-F2F0-D65D-E5BA1BDE8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57214"/>
              </p:ext>
            </p:extLst>
          </p:nvPr>
        </p:nvGraphicFramePr>
        <p:xfrm>
          <a:off x="518428" y="3725300"/>
          <a:ext cx="7352826" cy="1394460"/>
        </p:xfrm>
        <a:graphic>
          <a:graphicData uri="http://schemas.openxmlformats.org/drawingml/2006/table">
            <a:tbl>
              <a:tblPr/>
              <a:tblGrid>
                <a:gridCol w="1174454">
                  <a:extLst>
                    <a:ext uri="{9D8B030D-6E8A-4147-A177-3AD203B41FA5}">
                      <a16:colId xmlns:a16="http://schemas.microsoft.com/office/drawing/2014/main" val="313343240"/>
                    </a:ext>
                  </a:extLst>
                </a:gridCol>
                <a:gridCol w="933326">
                  <a:extLst>
                    <a:ext uri="{9D8B030D-6E8A-4147-A177-3AD203B41FA5}">
                      <a16:colId xmlns:a16="http://schemas.microsoft.com/office/drawing/2014/main" val="2135178573"/>
                    </a:ext>
                  </a:extLst>
                </a:gridCol>
                <a:gridCol w="469471">
                  <a:extLst>
                    <a:ext uri="{9D8B030D-6E8A-4147-A177-3AD203B41FA5}">
                      <a16:colId xmlns:a16="http://schemas.microsoft.com/office/drawing/2014/main" val="1871317844"/>
                    </a:ext>
                  </a:extLst>
                </a:gridCol>
                <a:gridCol w="469471">
                  <a:extLst>
                    <a:ext uri="{9D8B030D-6E8A-4147-A177-3AD203B41FA5}">
                      <a16:colId xmlns:a16="http://schemas.microsoft.com/office/drawing/2014/main" val="3091063621"/>
                    </a:ext>
                  </a:extLst>
                </a:gridCol>
                <a:gridCol w="469471">
                  <a:extLst>
                    <a:ext uri="{9D8B030D-6E8A-4147-A177-3AD203B41FA5}">
                      <a16:colId xmlns:a16="http://schemas.microsoft.com/office/drawing/2014/main" val="3641421190"/>
                    </a:ext>
                  </a:extLst>
                </a:gridCol>
                <a:gridCol w="1266367">
                  <a:extLst>
                    <a:ext uri="{9D8B030D-6E8A-4147-A177-3AD203B41FA5}">
                      <a16:colId xmlns:a16="http://schemas.microsoft.com/office/drawing/2014/main" val="3807451067"/>
                    </a:ext>
                  </a:extLst>
                </a:gridCol>
                <a:gridCol w="1004306">
                  <a:extLst>
                    <a:ext uri="{9D8B030D-6E8A-4147-A177-3AD203B41FA5}">
                      <a16:colId xmlns:a16="http://schemas.microsoft.com/office/drawing/2014/main" val="1858183965"/>
                    </a:ext>
                  </a:extLst>
                </a:gridCol>
                <a:gridCol w="772035">
                  <a:extLst>
                    <a:ext uri="{9D8B030D-6E8A-4147-A177-3AD203B41FA5}">
                      <a16:colId xmlns:a16="http://schemas.microsoft.com/office/drawing/2014/main" val="3238104756"/>
                    </a:ext>
                  </a:extLst>
                </a:gridCol>
                <a:gridCol w="793925">
                  <a:extLst>
                    <a:ext uri="{9D8B030D-6E8A-4147-A177-3AD203B41FA5}">
                      <a16:colId xmlns:a16="http://schemas.microsoft.com/office/drawing/2014/main" val="3986833432"/>
                    </a:ext>
                  </a:extLst>
                </a:gridCol>
              </a:tblGrid>
              <a:tr h="27241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Safety Alert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FY26/27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July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440362"/>
                  </a:ext>
                </a:extLst>
              </a:tr>
              <a:tr h="272415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Safety Alert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Close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Action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678043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Hazards &amp; Issue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504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304353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Near Miss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74198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504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009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BEF9CBF8-C971-5222-8992-1CE8CDBE4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302" y="3725300"/>
            <a:ext cx="3910084" cy="25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37223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helvetica"/>
        <a:ea typeface="黑体"/>
        <a:cs typeface=""/>
      </a:majorFont>
      <a:minorFont>
        <a:latin typeface="helvetic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12716</TotalTime>
  <Words>350</Words>
  <Application>Microsoft Office PowerPoint</Application>
  <PresentationFormat>와이드스크린</PresentationFormat>
  <Paragraphs>108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Arial Unicode MS</vt:lpstr>
      <vt:lpstr>微软雅黑</vt:lpstr>
      <vt:lpstr>맑은 고딕</vt:lpstr>
      <vt:lpstr>Aptos</vt:lpstr>
      <vt:lpstr>Arial</vt:lpstr>
      <vt:lpstr>Calibri</vt:lpstr>
      <vt:lpstr>helvetica</vt:lpstr>
      <vt:lpstr>Wingdings</vt:lpstr>
      <vt:lpstr>slide master</vt:lpstr>
      <vt:lpstr>EHS Weekly Meeting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LanYu Zhang</dc:creator>
  <cp:lastModifiedBy>JiYoung Park</cp:lastModifiedBy>
  <cp:revision>380</cp:revision>
  <cp:lastPrinted>2024-11-14T02:14:50Z</cp:lastPrinted>
  <dcterms:created xsi:type="dcterms:W3CDTF">2023-06-07T07:00:21Z</dcterms:created>
  <dcterms:modified xsi:type="dcterms:W3CDTF">2026-07-27T07:26:23Z</dcterms:modified>
</cp:coreProperties>
</file>